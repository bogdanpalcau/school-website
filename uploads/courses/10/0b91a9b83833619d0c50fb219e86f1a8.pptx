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gdan Palcau" userId="3073d52d6230e616" providerId="LiveId" clId="{6356001E-5375-46C2-B43B-2E8F2C9EDA12}"/>
    <pc:docChg chg="custSel modSld">
      <pc:chgData name="Bogdan Palcau" userId="3073d52d6230e616" providerId="LiveId" clId="{6356001E-5375-46C2-B43B-2E8F2C9EDA12}" dt="2026-04-25T13:17:15.430" v="10" actId="478"/>
      <pc:docMkLst>
        <pc:docMk/>
      </pc:docMkLst>
      <pc:sldChg chg="delSp mod">
        <pc:chgData name="Bogdan Palcau" userId="3073d52d6230e616" providerId="LiveId" clId="{6356001E-5375-46C2-B43B-2E8F2C9EDA12}" dt="2026-04-25T13:17:15.430" v="10" actId="478"/>
        <pc:sldMkLst>
          <pc:docMk/>
          <pc:sldMk cId="0" sldId="257"/>
        </pc:sldMkLst>
        <pc:spChg chg="del">
          <ac:chgData name="Bogdan Palcau" userId="3073d52d6230e616" providerId="LiveId" clId="{6356001E-5375-46C2-B43B-2E8F2C9EDA12}" dt="2026-04-25T13:17:15.430" v="10" actId="478"/>
          <ac:spMkLst>
            <pc:docMk/>
            <pc:sldMk cId="0" sldId="257"/>
            <ac:spMk id="42" creationId="{00000000-0000-0000-0000-000000000000}"/>
          </ac:spMkLst>
        </pc:spChg>
      </pc:sldChg>
      <pc:sldChg chg="modSp mod">
        <pc:chgData name="Bogdan Palcau" userId="3073d52d6230e616" providerId="LiveId" clId="{6356001E-5375-46C2-B43B-2E8F2C9EDA12}" dt="2026-04-25T12:42:29.206" v="0" actId="1076"/>
        <pc:sldMkLst>
          <pc:docMk/>
          <pc:sldMk cId="0" sldId="258"/>
        </pc:sldMkLst>
        <pc:spChg chg="mod">
          <ac:chgData name="Bogdan Palcau" userId="3073d52d6230e616" providerId="LiveId" clId="{6356001E-5375-46C2-B43B-2E8F2C9EDA12}" dt="2026-04-25T12:42:29.206" v="0" actId="1076"/>
          <ac:spMkLst>
            <pc:docMk/>
            <pc:sldMk cId="0" sldId="258"/>
            <ac:spMk id="5" creationId="{00000000-0000-0000-0000-000000000000}"/>
          </ac:spMkLst>
        </pc:spChg>
      </pc:sldChg>
      <pc:sldChg chg="delSp modSp mod">
        <pc:chgData name="Bogdan Palcau" userId="3073d52d6230e616" providerId="LiveId" clId="{6356001E-5375-46C2-B43B-2E8F2C9EDA12}" dt="2026-04-25T13:01:28.777" v="9" actId="1076"/>
        <pc:sldMkLst>
          <pc:docMk/>
          <pc:sldMk cId="0" sldId="260"/>
        </pc:sldMkLst>
        <pc:spChg chg="mod">
          <ac:chgData name="Bogdan Palcau" userId="3073d52d6230e616" providerId="LiveId" clId="{6356001E-5375-46C2-B43B-2E8F2C9EDA12}" dt="2026-04-25T13:01:12.824" v="1" actId="20577"/>
          <ac:spMkLst>
            <pc:docMk/>
            <pc:sldMk cId="0" sldId="260"/>
            <ac:spMk id="17" creationId="{00000000-0000-0000-0000-000000000000}"/>
          </ac:spMkLst>
        </pc:spChg>
        <pc:spChg chg="del">
          <ac:chgData name="Bogdan Palcau" userId="3073d52d6230e616" providerId="LiveId" clId="{6356001E-5375-46C2-B43B-2E8F2C9EDA12}" dt="2026-04-25T13:01:15.789" v="2" actId="478"/>
          <ac:spMkLst>
            <pc:docMk/>
            <pc:sldMk cId="0" sldId="260"/>
            <ac:spMk id="30" creationId="{00000000-0000-0000-0000-000000000000}"/>
          </ac:spMkLst>
        </pc:spChg>
        <pc:spChg chg="del mod">
          <ac:chgData name="Bogdan Palcau" userId="3073d52d6230e616" providerId="LiveId" clId="{6356001E-5375-46C2-B43B-2E8F2C9EDA12}" dt="2026-04-25T13:01:19.340" v="4" actId="478"/>
          <ac:spMkLst>
            <pc:docMk/>
            <pc:sldMk cId="0" sldId="260"/>
            <ac:spMk id="31" creationId="{00000000-0000-0000-0000-000000000000}"/>
          </ac:spMkLst>
        </pc:spChg>
        <pc:spChg chg="del">
          <ac:chgData name="Bogdan Palcau" userId="3073d52d6230e616" providerId="LiveId" clId="{6356001E-5375-46C2-B43B-2E8F2C9EDA12}" dt="2026-04-25T13:01:20.362" v="5" actId="478"/>
          <ac:spMkLst>
            <pc:docMk/>
            <pc:sldMk cId="0" sldId="260"/>
            <ac:spMk id="32" creationId="{00000000-0000-0000-0000-000000000000}"/>
          </ac:spMkLst>
        </pc:spChg>
        <pc:spChg chg="mod">
          <ac:chgData name="Bogdan Palcau" userId="3073d52d6230e616" providerId="LiveId" clId="{6356001E-5375-46C2-B43B-2E8F2C9EDA12}" dt="2026-04-25T13:01:24.203" v="7" actId="1076"/>
          <ac:spMkLst>
            <pc:docMk/>
            <pc:sldMk cId="0" sldId="260"/>
            <ac:spMk id="33" creationId="{00000000-0000-0000-0000-000000000000}"/>
          </ac:spMkLst>
        </pc:spChg>
        <pc:spChg chg="mod">
          <ac:chgData name="Bogdan Palcau" userId="3073d52d6230e616" providerId="LiveId" clId="{6356001E-5375-46C2-B43B-2E8F2C9EDA12}" dt="2026-04-25T13:01:26.508" v="8" actId="1076"/>
          <ac:spMkLst>
            <pc:docMk/>
            <pc:sldMk cId="0" sldId="260"/>
            <ac:spMk id="34" creationId="{00000000-0000-0000-0000-000000000000}"/>
          </ac:spMkLst>
        </pc:spChg>
        <pc:spChg chg="mod">
          <ac:chgData name="Bogdan Palcau" userId="3073d52d6230e616" providerId="LiveId" clId="{6356001E-5375-46C2-B43B-2E8F2C9EDA12}" dt="2026-04-25T13:01:28.777" v="9" actId="1076"/>
          <ac:spMkLst>
            <pc:docMk/>
            <pc:sldMk cId="0" sldId="260"/>
            <ac:spMk id="35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Score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Accessibility</c:v>
                </c:pt>
                <c:pt idx="1">
                  <c:v>Structure</c:v>
                </c:pt>
                <c:pt idx="2">
                  <c:v>Hints</c:v>
                </c:pt>
                <c:pt idx="3">
                  <c:v>Gamification</c:v>
                </c:pt>
                <c:pt idx="4">
                  <c:v>Learning</c:v>
                </c:pt>
                <c:pt idx="5">
                  <c:v>Challenges</c:v>
                </c:pt>
                <c:pt idx="6">
                  <c:v>Safety</c:v>
                </c:pt>
                <c:pt idx="7">
                  <c:v>Return Use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4.67</c:v>
                </c:pt>
                <c:pt idx="1">
                  <c:v>4.67</c:v>
                </c:pt>
                <c:pt idx="2">
                  <c:v>4.33</c:v>
                </c:pt>
                <c:pt idx="3">
                  <c:v>5</c:v>
                </c:pt>
                <c:pt idx="4">
                  <c:v>4</c:v>
                </c:pt>
                <c:pt idx="5">
                  <c:v>4.67</c:v>
                </c:pt>
                <c:pt idx="6">
                  <c:v>5</c:v>
                </c:pt>
                <c:pt idx="7">
                  <c:v>4.67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2F-4276-BEAD-5936486BF34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3"/>
        </c:scaling>
        <c:delete val="0"/>
        <c:axPos val="l"/>
        <c:majorGridlines>
          <c:spPr>
            <a:ln w="6350" cap="flat">
              <a:solidFill>
                <a:srgbClr val="21262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4376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02920"/>
            <a:ext cx="1554480" cy="155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" y="2240280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VulnLab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164592" y="301752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Gamified Cybersecurity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Platform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4592" y="40690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Bogdan Palcau  ·  BSc Computer Science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64592" y="43891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Northampton  ·  April 2026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0" y="6858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 Question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0" y="1097280"/>
            <a:ext cx="4206240" cy="2331720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36592" y="1234440"/>
            <a:ext cx="3886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what extent can a browser-based gamified learning platform improve accessibility, engagement and practical understanding of cybersecurity concepts for beginner learners?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0" y="37033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Module: CSY4022  ·  Supervisor: Dr Mandy Morell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0" y="40050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count: 14,892  ·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Introduction  —  Viva Structure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" y="804672"/>
            <a:ext cx="8641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viva presents VulnLab — a browser-based gamified cybersecurity learning platform built to address a demonstrable skills gap in the UK workforce. The viva is structured in the following sections: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44752" y="1591056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82880" y="1508760"/>
            <a:ext cx="1261872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527048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82880" y="1709928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Rationale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2880" y="2176272"/>
            <a:ext cx="1261872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" y="2249424"/>
            <a:ext cx="11155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question, 49% skill gap stat, existing platform limitations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07792" y="1591056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645920" y="1508760"/>
            <a:ext cx="1261872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1527048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645920" y="1709928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Background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645920" y="2176272"/>
            <a:ext cx="1261872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719072" y="2249424"/>
            <a:ext cx="11155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research objectives · 4 key literature sources linked to design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70832" y="1591056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108960" y="1508760"/>
            <a:ext cx="1261872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1527048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108960" y="1709928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Architecture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08960" y="2176272"/>
            <a:ext cx="1261872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182112" y="2249424"/>
            <a:ext cx="11155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stack, methodology, DB and security decisions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33872" y="1591056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572000" y="1508760"/>
            <a:ext cx="1261872" cy="5486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1527048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0" y="1709928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0" y="2176272"/>
            <a:ext cx="1261872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45152" y="2249424"/>
            <a:ext cx="11155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security.php · gamification.php · challenge_submit.php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96912" y="1591056"/>
            <a:ext cx="201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035040" y="1508760"/>
            <a:ext cx="1261872" cy="5486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1527048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035040" y="1709928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35040" y="2176272"/>
            <a:ext cx="1261872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108192" y="2249424"/>
            <a:ext cx="11155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user journey on localhost — login to admin panel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498080" y="1508760"/>
            <a:ext cx="1261872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0" y="1527048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498080" y="1709928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Conclusions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498080" y="2176272"/>
            <a:ext cx="1261872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571232" y="2249424"/>
            <a:ext cx="11155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30/30 tests · user evaluation · recommendations · summary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82880" y="3749040"/>
            <a:ext cx="864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04 &amp; 05 are live — slides minimised during those sections.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&amp; Rationale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63286" y="777240"/>
            <a:ext cx="2651760" cy="1874520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686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74320" y="17556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businesses report 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cybersecurity skill gap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22860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DSIT, 2025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63240" y="777240"/>
            <a:ext cx="5760720" cy="1874520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8686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Gap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46120" y="118872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understand theory but can't apply it in practice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TryHackMe / HackTheBox assume prior knowledge and need VPN + VMs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setup overhead blocks beginners before they start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structured, browser-based, beginner-safe alternative exists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2816352"/>
            <a:ext cx="8641080" cy="841248"/>
          </a:xfrm>
          <a:prstGeom prst="rect">
            <a:avLst/>
          </a:prstGeom>
          <a:solidFill>
            <a:srgbClr val="161B22"/>
          </a:solidFill>
          <a:ln w="12700">
            <a:solidFill>
              <a:srgbClr val="00C896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2816352"/>
            <a:ext cx="8641080" cy="3200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834640"/>
            <a:ext cx="8458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VulnLab Solution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" y="320040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 ·  No setup required  ·  Locally simulated  ·  Structured progression  ·  Gamified  ·  Ethically safe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" y="3767328"/>
            <a:ext cx="864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Critical Success Factors defined from the literature: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2880" y="4069080"/>
            <a:ext cx="16002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6032" y="413308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920240" y="4069080"/>
            <a:ext cx="16002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993392" y="413308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Progression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0" y="4069080"/>
            <a:ext cx="16002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730752" y="413308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Engagement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94960" y="4069080"/>
            <a:ext cx="16002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68112" y="413308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Interaction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132320" y="4069080"/>
            <a:ext cx="16002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205472" y="413308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Safety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Objectives &amp; Background Research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" y="8046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 Objectives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170432"/>
            <a:ext cx="429768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170432"/>
            <a:ext cx="777240" cy="6217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170432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" y="13350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limitations of existing platforms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2880" y="1901952"/>
            <a:ext cx="429768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901952"/>
            <a:ext cx="777240" cy="6217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1901952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51560" y="20665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Critical Success Factors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82880" y="2633472"/>
            <a:ext cx="429768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2633472"/>
            <a:ext cx="777240" cy="6217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2633472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" y="279806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develop VulnLab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82880" y="3364992"/>
            <a:ext cx="429768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2880" y="3364992"/>
            <a:ext cx="777240" cy="6217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3364992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 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1560" y="35295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via testing + user feedback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82880" y="4096512"/>
            <a:ext cx="429768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82880" y="4096512"/>
            <a:ext cx="777240" cy="6217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" y="4096512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 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1560" y="42611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best practices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09160" y="8046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Literature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1170432"/>
            <a:ext cx="420624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64608" y="126187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Sweller (1988)  —  Cognitive Load Theory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64608" y="1536192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at once impairs learning. Drove skill-locking, hints, staged progression.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2084832"/>
            <a:ext cx="420624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64608" y="217627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&amp; Deci (2000)  —  Self-Determination Theory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64608" y="2450592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from autonomy, competence, relatedness. Drove XP, unlocks, achievements.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2999232"/>
            <a:ext cx="420624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64608" y="309067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Dicheva et al. (2015)  —  Gamification in Education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64608" y="3364992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work when they reinforce learning. Informed how gamification was layered in.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3913632"/>
            <a:ext cx="420624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64608" y="400507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Chothia &amp; Novakovic (2015)  —  CTF-Style Challenges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64608" y="4279392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challenges help but overwhelm beginners. Drove hints and structure.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&amp; Architecture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" y="804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Three-Layer Architecture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170432"/>
            <a:ext cx="41148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435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51790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 ·  CSS  ·  JavaScript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57400" y="188366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2880" y="2039112"/>
            <a:ext cx="4114800" cy="685800"/>
          </a:xfrm>
          <a:prstGeom prst="rect">
            <a:avLst/>
          </a:prstGeom>
          <a:solidFill>
            <a:srgbClr val="02A896"/>
          </a:solidFill>
          <a:ln w="12700">
            <a:solidFill>
              <a:srgbClr val="02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1122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238658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 ·  security.php  ·  layout.php  ·  gamification.php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57400" y="275234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82880" y="2907792"/>
            <a:ext cx="4114800" cy="6858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9809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325526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 ·  9 normalised tables  ·  XAMPP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" y="3822192"/>
            <a:ext cx="4114800" cy="1078992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20040" y="39136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Modular codebase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418795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concern lives in its own file — auth, dashboard, courses, challenges, gamification, tournaments, admin. A central layout.php and security.php apply consistently across every page via require_once.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80467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Design Decisions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1170432"/>
            <a:ext cx="434340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09160" y="124358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 KEY on user_solves (user_id, challenge_id)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09160" y="149961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double XP at the database level — not just in application code.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0" y="1920240"/>
            <a:ext cx="434340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09160" y="199339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Separate replay tables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09160" y="224942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user_course_restarts + user_replay_solves — replay without losing original XP.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0" y="2670048"/>
            <a:ext cx="434340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09160" y="274320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XP never stored — always calculated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09160" y="299923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getUserScore() sums from user_solves live. Adjustment column handles admin rank changes.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0" y="3472107"/>
            <a:ext cx="434340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34" name="Text 32"/>
          <p:cNvSpPr/>
          <p:nvPr/>
        </p:nvSpPr>
        <p:spPr>
          <a:xfrm>
            <a:off x="4604004" y="3504765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Agile / iterative methodology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604004" y="378104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test → refine per feature. Waterfall rejected — requirements evolved. (Sommerville, 2016)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Testing &amp; Evaluation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256032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68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/ 30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74320" y="1664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71800" y="777240"/>
            <a:ext cx="585216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27248" y="84124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Test Cases  (Chapter 8 — full table of 30)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27248" y="11430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CSRF token validation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80760" y="11430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without token rejected — 'Invalid request'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127248" y="13990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Rate limiting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80760" y="139903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locked after 5th failed login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127248" y="165506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double XP on replay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80760" y="165506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mode prevented re-award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127248" y="191109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Skill-level locking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80760" y="191109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user denied /sqli direct URL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82880" y="2331720"/>
            <a:ext cx="8641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Evaluation  (3 beginner participants  ·  avg 4.63 / 5  ·  Chapter 8)</a:t>
            </a:r>
            <a:endParaRPr lang="en-US" sz="11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182880" y="2651760"/>
          <a:ext cx="8641080" cy="2212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Conclusions &amp; Recommendations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78892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2788920" cy="3840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9552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Was Achieved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263347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objectives met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30 tests passed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user score 4.63 / 5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gamification — XP, gems, streaks, 23 achievements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OWASP-aligned security implementation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36392" y="777240"/>
            <a:ext cx="278892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36392" y="777240"/>
            <a:ext cx="27889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27832" y="79552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Best-Practice Recommendations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27832" y="1234440"/>
            <a:ext cx="263347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first — remove the setup barrier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Skill-lock content to manage cognitive load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must reinforce, not distract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 should guide, not reveal answers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environments keep it ethically safe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44184" y="777240"/>
            <a:ext cx="278892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44184" y="777240"/>
            <a:ext cx="2788920" cy="384048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35624" y="79552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Limitations &amp; Future Work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135624" y="1234440"/>
            <a:ext cx="263347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participants — familiarity bias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simulations ≠ real tools (Burp, Nmap)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only — no long-term usage data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cloud deploy + larger user study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more network challenges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28600" y="48280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  ·  Questions?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28600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3268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 Question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651760" y="822960"/>
            <a:ext cx="626364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88920" y="896112"/>
            <a:ext cx="5989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what extent can a browser-based gamified platform improve accessibility, engagement and cybersecurity learning for beginners?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8600" y="1627632"/>
            <a:ext cx="228600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73736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Approach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51760" y="1627632"/>
            <a:ext cx="626364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88920" y="1700784"/>
            <a:ext cx="5989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PHP/MySQL platform built iteratively using OWASP security standards, Cognitive Load Theory, and Self-Determination Theory.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2432304"/>
            <a:ext cx="228600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54203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Outcomes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51760" y="2432304"/>
            <a:ext cx="626364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88920" y="2505456"/>
            <a:ext cx="5989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objectives met · 30/30 tests passed · Avg user score 4.63/5 · 5 best-practice recommendations defined.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3236976"/>
            <a:ext cx="228600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34670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Limitations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51760" y="3236976"/>
            <a:ext cx="626364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88920" y="3310128"/>
            <a:ext cx="5989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user sample (3 participants), local-only deployment, JS simulations not equivalent to real security tools.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4041648"/>
            <a:ext cx="228600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15137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 Work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51760" y="4041648"/>
            <a:ext cx="626364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88920" y="4114800"/>
            <a:ext cx="5989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deployment, larger longitudinal study, additional network and forensics challenges, real tool integration.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28600" y="482803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Bogdan Palcau  ·  BSc Computer Science  ·  University of Northampton  ·  CSY4022  ·  April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917</Words>
  <Application>Microsoft Office PowerPoint</Application>
  <PresentationFormat>On-screen Show (16:9)</PresentationFormat>
  <Paragraphs>148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VulnLab – Dissertation Viva</dc:title>
  <dc:subject>PptxGenJS Presentation</dc:subject>
  <dc:creator>Bogdan Palcau</dc:creator>
  <cp:lastModifiedBy>Bogdan Palcau</cp:lastModifiedBy>
  <cp:revision>1</cp:revision>
  <dcterms:created xsi:type="dcterms:W3CDTF">2026-04-23T07:45:30Z</dcterms:created>
  <dcterms:modified xsi:type="dcterms:W3CDTF">2026-04-25T13:21:34Z</dcterms:modified>
</cp:coreProperties>
</file>